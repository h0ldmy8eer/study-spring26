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76" r:id="rId2"/>
    <p:sldId id="258" r:id="rId3"/>
    <p:sldId id="286" r:id="rId4"/>
    <p:sldId id="259" r:id="rId5"/>
    <p:sldId id="282" r:id="rId6"/>
    <p:sldId id="285" r:id="rId7"/>
    <p:sldId id="288" r:id="rId8"/>
    <p:sldId id="287" r:id="rId9"/>
    <p:sldId id="277" r:id="rId10"/>
    <p:sldId id="262" r:id="rId11"/>
    <p:sldId id="261" r:id="rId12"/>
    <p:sldId id="279" r:id="rId13"/>
  </p:sldIdLst>
  <p:sldSz cx="14630400" cy="8229600"/>
  <p:notesSz cx="8229600" cy="14630400"/>
  <p:embeddedFontLst>
    <p:embeddedFont>
      <p:font typeface="Open Sans" panose="020B0606030504020204" pitchFamily="34" charset="0"/>
      <p:regular r:id="rId15"/>
      <p:bold r:id="rId16"/>
      <p:italic r:id="rId17"/>
      <p:boldItalic r:id="rId18"/>
    </p:embeddedFont>
    <p:embeddedFont>
      <p:font typeface="Open Sans ExtraBold" panose="020B0906030804020204" pitchFamily="34" charset="0"/>
      <p:bold r:id="rId19"/>
      <p:boldItalic r:id="rId20"/>
    </p:embeddedFont>
    <p:embeddedFont>
      <p:font typeface="Open Sans Light" panose="020B0306030504020204" pitchFamily="34" charset="0"/>
      <p:regular r:id="rId21"/>
      <p:italic r:id="rId22"/>
    </p:embeddedFont>
    <p:embeddedFont>
      <p:font typeface="Open Sans Semibold" panose="020B0706030804020204" pitchFamily="34" charset="0"/>
      <p:bold r:id="rId23"/>
      <p:boldItalic r:id="rId24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44" autoAdjust="0"/>
    <p:restoredTop sz="94610"/>
  </p:normalViewPr>
  <p:slideViewPr>
    <p:cSldViewPr snapToGrid="0" snapToObjects="1">
      <p:cViewPr>
        <p:scale>
          <a:sx n="75" d="100"/>
          <a:sy n="75" d="100"/>
        </p:scale>
        <p:origin x="52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7717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9314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Титульный слайд №1 (без картинки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489586" y="1695450"/>
            <a:ext cx="11489054" cy="27733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indent="0" algn="l">
              <a:defRPr sz="4800" b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ru-RU" dirty="0"/>
              <a:t>Тема лекции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489586" y="5277883"/>
            <a:ext cx="7534274" cy="639698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marL="0" indent="0" algn="l">
              <a:buNone/>
              <a:defRPr sz="2880">
                <a:solidFill>
                  <a:schemeClr val="bg1"/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ru-RU" dirty="0"/>
              <a:t>Фамилия Имя Отчество</a:t>
            </a:r>
          </a:p>
        </p:txBody>
      </p:sp>
      <p:sp>
        <p:nvSpPr>
          <p:cNvPr id="12" name="Текст 11"/>
          <p:cNvSpPr>
            <a:spLocks noGrp="1"/>
          </p:cNvSpPr>
          <p:nvPr>
            <p:ph type="body" sz="quarter" idx="13" hasCustomPrompt="1"/>
          </p:nvPr>
        </p:nvSpPr>
        <p:spPr>
          <a:xfrm>
            <a:off x="489585" y="6021355"/>
            <a:ext cx="7534273" cy="60236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baseline="0">
                <a:solidFill>
                  <a:schemeClr val="bg1"/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ru-RU" dirty="0"/>
              <a:t>Должность</a:t>
            </a:r>
          </a:p>
        </p:txBody>
      </p:sp>
    </p:spTree>
    <p:extLst>
      <p:ext uri="{BB962C8B-B14F-4D97-AF65-F5344CB8AC3E}">
        <p14:creationId xmlns:p14="http://schemas.microsoft.com/office/powerpoint/2010/main" val="21107555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21">
          <p15:clr>
            <a:srgbClr val="FBAE40"/>
          </p15:clr>
        </p15:guide>
        <p15:guide id="2" pos="257">
          <p15:clr>
            <a:srgbClr val="FBAE40"/>
          </p15:clr>
        </p15:guide>
        <p15:guide id="3" pos="6335">
          <p15:clr>
            <a:srgbClr val="FBAE40"/>
          </p15:clr>
        </p15:guide>
        <p15:guide id="4" orient="horz" pos="89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Слайд №1 (без доп.графики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 hasCustomPrompt="1"/>
          </p:nvPr>
        </p:nvSpPr>
        <p:spPr>
          <a:xfrm>
            <a:off x="445770" y="2167699"/>
            <a:ext cx="13738860" cy="37871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tx1"/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lang="ru-RU" dirty="0"/>
              <a:t>Подзаголовок, если нужен. Размер шрифта 20 </a:t>
            </a:r>
            <a:r>
              <a:rPr lang="ru-RU" dirty="0" err="1"/>
              <a:t>пт</a:t>
            </a:r>
            <a:endParaRPr lang="ru-RU" dirty="0"/>
          </a:p>
        </p:txBody>
      </p:sp>
      <p:sp>
        <p:nvSpPr>
          <p:cNvPr id="6" name="Номер слайда 5" title="1"/>
          <p:cNvSpPr>
            <a:spLocks noGrp="1"/>
          </p:cNvSpPr>
          <p:nvPr>
            <p:ph type="sldNum" sz="quarter" idx="12"/>
          </p:nvPr>
        </p:nvSpPr>
        <p:spPr>
          <a:xfrm>
            <a:off x="13852398" y="7390831"/>
            <a:ext cx="664464" cy="603884"/>
          </a:xfrm>
          <a:prstGeom prst="rect">
            <a:avLst/>
          </a:prstGeom>
        </p:spPr>
        <p:txBody>
          <a:bodyPr anchor="ctr" anchorCtr="0"/>
          <a:lstStyle>
            <a:lvl1pPr algn="ctr">
              <a:defRPr sz="192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6A13326-196F-47D6-8271-B6D1C4F962EF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Текст 7"/>
          <p:cNvSpPr>
            <a:spLocks noGrp="1"/>
          </p:cNvSpPr>
          <p:nvPr>
            <p:ph type="body" sz="quarter" idx="13" hasCustomPrompt="1"/>
          </p:nvPr>
        </p:nvSpPr>
        <p:spPr>
          <a:xfrm>
            <a:off x="445771" y="2651760"/>
            <a:ext cx="6934746" cy="504824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16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ru-RU" dirty="0"/>
              <a:t>Образец текста. Рекомендуемый размер шрифта 18 </a:t>
            </a:r>
            <a:r>
              <a:rPr lang="ru-RU" dirty="0" err="1"/>
              <a:t>пт</a:t>
            </a:r>
            <a:endParaRPr lang="ru-RU" dirty="0"/>
          </a:p>
        </p:txBody>
      </p:sp>
      <p:sp>
        <p:nvSpPr>
          <p:cNvPr id="9" name="Заголовок 8"/>
          <p:cNvSpPr>
            <a:spLocks noGrp="1"/>
          </p:cNvSpPr>
          <p:nvPr>
            <p:ph type="title"/>
          </p:nvPr>
        </p:nvSpPr>
        <p:spPr>
          <a:xfrm>
            <a:off x="1870710" y="356236"/>
            <a:ext cx="12313920" cy="1295400"/>
          </a:xfrm>
          <a:prstGeom prst="rect">
            <a:avLst/>
          </a:prstGeom>
        </p:spPr>
        <p:txBody>
          <a:bodyPr anchor="ctr" anchorCtr="0"/>
          <a:lstStyle>
            <a:lvl1pPr>
              <a:defRPr sz="4800">
                <a:solidFill>
                  <a:schemeClr val="bg1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1" name="Рисунок 10"/>
          <p:cNvSpPr>
            <a:spLocks noGrp="1"/>
          </p:cNvSpPr>
          <p:nvPr>
            <p:ph type="pic" sz="quarter" idx="14"/>
          </p:nvPr>
        </p:nvSpPr>
        <p:spPr>
          <a:xfrm>
            <a:off x="7570852" y="2651761"/>
            <a:ext cx="6281546" cy="5048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160">
                <a:solidFill>
                  <a:schemeClr val="tx1"/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168937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42">
          <p15:clr>
            <a:srgbClr val="FBAE40"/>
          </p15:clr>
        </p15:guide>
        <p15:guide id="2" pos="234">
          <p15:clr>
            <a:srgbClr val="FBAE40"/>
          </p15:clr>
        </p15:guide>
        <p15:guide id="3" orient="horz" pos="1139">
          <p15:clr>
            <a:srgbClr val="FBAE40"/>
          </p15:clr>
        </p15:guide>
        <p15:guide id="4" orient="horz" pos="867">
          <p15:clr>
            <a:srgbClr val="FBAE40"/>
          </p15:clr>
        </p15:guide>
        <p15:guide id="5" orient="horz" pos="187">
          <p15:clr>
            <a:srgbClr val="FBAE40"/>
          </p15:clr>
        </p15:guide>
        <p15:guide id="6" pos="7446">
          <p15:clr>
            <a:srgbClr val="FBAE40"/>
          </p15:clr>
        </p15:guide>
        <p15:guide id="7" pos="982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Фина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489585" y="2982468"/>
            <a:ext cx="11454764" cy="1261873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indent="436320" algn="l">
              <a:defRPr sz="4800" b="0">
                <a:solidFill>
                  <a:schemeClr val="bg1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</a:lstStyle>
          <a:p>
            <a:r>
              <a:rPr lang="ru-RU" dirty="0"/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31929606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2">
          <p15:clr>
            <a:srgbClr val="FBAE40"/>
          </p15:clr>
        </p15:guide>
        <p15:guide id="2" pos="257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98AE1F-EF6A-4141-8199-816D5643FC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9586" y="2208245"/>
            <a:ext cx="11489054" cy="2773300"/>
          </a:xfrm>
        </p:spPr>
        <p:txBody>
          <a:bodyPr>
            <a:normAutofit/>
          </a:bodyPr>
          <a:lstStyle/>
          <a:p>
            <a:r>
              <a:rPr lang="en-US" sz="4800" b="1" dirty="0" err="1">
                <a:latin typeface="Arial" panose="020B0604020202020204" pitchFamily="34" charset="0"/>
                <a:ea typeface="Open Sans" panose="020B0604020202020204" charset="0"/>
                <a:cs typeface="Arial" panose="020B0604020202020204" pitchFamily="34" charset="0"/>
              </a:rPr>
              <a:t>Разработка</a:t>
            </a:r>
            <a:r>
              <a:rPr lang="en-US" sz="4800" b="1" dirty="0">
                <a:latin typeface="Arial" panose="020B0604020202020204" pitchFamily="34" charset="0"/>
                <a:ea typeface="Open Sans" panose="020B0604020202020204" charset="0"/>
                <a:cs typeface="Arial" panose="020B0604020202020204" pitchFamily="34" charset="0"/>
              </a:rPr>
              <a:t> </a:t>
            </a:r>
            <a:r>
              <a:rPr lang="ru-RU" sz="4800" b="1" dirty="0">
                <a:latin typeface="Arial" panose="020B0604020202020204" pitchFamily="34" charset="0"/>
                <a:ea typeface="Open Sans" panose="020B0604020202020204" charset="0"/>
                <a:cs typeface="Arial" panose="020B0604020202020204" pitchFamily="34" charset="0"/>
              </a:rPr>
              <a:t>программного модуля визуального обнаружения объектов</a:t>
            </a:r>
            <a:endParaRPr lang="ru-RU" spc="228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2842028-67E9-48AC-AFBA-6CD96D193A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9586" y="5277883"/>
            <a:ext cx="9022404" cy="639698"/>
          </a:xfrm>
        </p:spPr>
        <p:txBody>
          <a:bodyPr>
            <a:noAutofit/>
          </a:bodyPr>
          <a:lstStyle/>
          <a:p>
            <a:r>
              <a:rPr lang="ru-RU" sz="2000" dirty="0"/>
              <a:t>Барышников Олег Анатольевич</a:t>
            </a:r>
            <a:r>
              <a:rPr lang="en-US" sz="2000" dirty="0"/>
              <a:t>, </a:t>
            </a:r>
            <a:r>
              <a:rPr lang="ru-RU" sz="2000" dirty="0"/>
              <a:t>студент 4 курса</a:t>
            </a:r>
            <a:r>
              <a:rPr lang="en-US" sz="2000" dirty="0"/>
              <a:t>,</a:t>
            </a:r>
            <a:r>
              <a:rPr lang="ru-RU" sz="2000" dirty="0"/>
              <a:t> группы О729Б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40BAED-2707-4AB7-BC98-16DE05A3A368}"/>
              </a:ext>
            </a:extLst>
          </p:cNvPr>
          <p:cNvSpPr txBox="1"/>
          <p:nvPr/>
        </p:nvSpPr>
        <p:spPr>
          <a:xfrm>
            <a:off x="489586" y="4877773"/>
            <a:ext cx="10269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solidFill>
                  <a:schemeClr val="bg1"/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Автор</a:t>
            </a:r>
            <a:r>
              <a:rPr lang="en-US" sz="2000" dirty="0">
                <a:solidFill>
                  <a:schemeClr val="bg1"/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:</a:t>
            </a:r>
            <a:endParaRPr lang="ru-RU" sz="2000" dirty="0">
              <a:solidFill>
                <a:schemeClr val="bg1"/>
              </a:solidFill>
              <a:latin typeface="Open Sans Semibold" panose="020B0706030804020204" pitchFamily="34" charset="0"/>
              <a:ea typeface="Open Sans Semibold" panose="020B0706030804020204" pitchFamily="34" charset="0"/>
              <a:cs typeface="Open Sans Semibold" panose="020B07060308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04381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Заголовок 18">
            <a:extLst>
              <a:ext uri="{FF2B5EF4-FFF2-40B4-BE49-F238E27FC236}">
                <a16:creationId xmlns:a16="http://schemas.microsoft.com/office/drawing/2014/main" id="{0D220B5C-A5CF-4E6B-91C9-285831D7B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4756" y="362642"/>
            <a:ext cx="10137849" cy="1295400"/>
          </a:xfrm>
        </p:spPr>
        <p:txBody>
          <a:bodyPr/>
          <a:lstStyle/>
          <a:p>
            <a:pPr algn="l"/>
            <a:r>
              <a:rPr lang="ru-RU" sz="4000" b="1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Актуальность</a:t>
            </a:r>
            <a:endParaRPr lang="ru-RU" dirty="0"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5C3F31E-1767-479F-ACE4-E728EC08119C}"/>
              </a:ext>
            </a:extLst>
          </p:cNvPr>
          <p:cNvSpPr txBox="1"/>
          <p:nvPr/>
        </p:nvSpPr>
        <p:spPr>
          <a:xfrm>
            <a:off x="620043" y="2090222"/>
            <a:ext cx="13390313" cy="3357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SzPct val="100000"/>
              <a:buChar char="•"/>
            </a:pPr>
            <a:r>
              <a:rPr lang="ru-RU" sz="24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Монолитные архитектуры становятся крайне сложными для масштабирования и внесения изменений при росте проекта</a:t>
            </a:r>
            <a:r>
              <a:rPr lang="en-US" sz="24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;</a:t>
            </a:r>
            <a:endParaRPr lang="ru-RU" sz="2400" dirty="0"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  <a:p>
            <a:pPr marL="342900" indent="-342900" algn="just">
              <a:lnSpc>
                <a:spcPct val="150000"/>
              </a:lnSpc>
              <a:buSzPct val="100000"/>
              <a:buChar char="•"/>
            </a:pPr>
            <a:r>
              <a:rPr lang="ru-RU" sz="24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Ручное разделение кода часто приводит к нарушению зависимостей и возникновению циклических импортов</a:t>
            </a:r>
            <a:r>
              <a:rPr lang="en-US" sz="24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;</a:t>
            </a:r>
            <a:endParaRPr lang="ru-RU" sz="2400" dirty="0"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  <a:p>
            <a:pPr marL="342900" indent="-342900" algn="just">
              <a:lnSpc>
                <a:spcPct val="150000"/>
              </a:lnSpc>
              <a:buSzPct val="100000"/>
              <a:buChar char="•"/>
            </a:pPr>
            <a:r>
              <a:rPr lang="ru-RU" sz="24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Настройка Docker для множества новых сервисов требует значительных трудозатрат и глубоких знаний DevOps.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7727B98B-8D4D-4761-BA7D-A393127EF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13326-196F-47D6-8271-B6D1C4F962EF}" type="slidenum">
              <a:rPr lang="ru-RU" smtClean="0"/>
              <a:pPr/>
              <a:t>2</a:t>
            </a:fld>
            <a:endParaRPr lang="ru-RU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Заголовок 18">
            <a:extLst>
              <a:ext uri="{FF2B5EF4-FFF2-40B4-BE49-F238E27FC236}">
                <a16:creationId xmlns:a16="http://schemas.microsoft.com/office/drawing/2014/main" id="{0D220B5C-A5CF-4E6B-91C9-285831D7B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4794" y="346665"/>
            <a:ext cx="10137849" cy="1295400"/>
          </a:xfrm>
        </p:spPr>
        <p:txBody>
          <a:bodyPr/>
          <a:lstStyle/>
          <a:p>
            <a:pPr algn="l"/>
            <a:r>
              <a:rPr lang="ru-RU" sz="4000" b="1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Цели и задачи</a:t>
            </a:r>
            <a:endParaRPr lang="ru-RU" dirty="0"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5C3F31E-1767-479F-ACE4-E728EC08119C}"/>
              </a:ext>
            </a:extLst>
          </p:cNvPr>
          <p:cNvSpPr txBox="1"/>
          <p:nvPr/>
        </p:nvSpPr>
        <p:spPr>
          <a:xfrm>
            <a:off x="620042" y="1945224"/>
            <a:ext cx="13390313" cy="5573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850" algn="just">
              <a:lnSpc>
                <a:spcPct val="150000"/>
              </a:lnSpc>
              <a:buSzPct val="100000"/>
            </a:pPr>
            <a:r>
              <a:rPr lang="ru-RU" sz="24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Цель работы: </a:t>
            </a:r>
          </a:p>
          <a:p>
            <a:pPr algn="just">
              <a:lnSpc>
                <a:spcPct val="150000"/>
              </a:lnSpc>
              <a:buSzPct val="100000"/>
            </a:pPr>
            <a:r>
              <a:rPr lang="ru-RU" sz="24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Разработка программного инструмента для автоматизации трансформации монолитных Python-приложений в микросервисную архитектуру</a:t>
            </a:r>
            <a:endParaRPr lang="en-US" sz="2400" dirty="0"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  <a:p>
            <a:pPr indent="450850" algn="just">
              <a:lnSpc>
                <a:spcPct val="150000"/>
              </a:lnSpc>
              <a:buSzPct val="100000"/>
            </a:pPr>
            <a:r>
              <a:rPr lang="ru-RU" sz="24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Задачи:</a:t>
            </a:r>
          </a:p>
          <a:p>
            <a:pPr marL="342900" indent="-342900" algn="just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ru-RU" sz="24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Анализ паттернов декомпозиции ПО;</a:t>
            </a:r>
          </a:p>
          <a:p>
            <a:pPr marL="342900" indent="-342900" algn="just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ru-RU" sz="24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Разработка алгоритма эвристического сканирования структуры;</a:t>
            </a:r>
          </a:p>
          <a:p>
            <a:pPr marL="342900" indent="-342900" algn="just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ru-RU" sz="24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Реализация модуля автоматической очистки моделей БД;</a:t>
            </a:r>
          </a:p>
          <a:p>
            <a:pPr marL="342900" indent="-342900" algn="just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ru-RU" sz="24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Создание генератора конфигураций Docker и Nginx;</a:t>
            </a:r>
          </a:p>
          <a:p>
            <a:pPr marL="342900" indent="-342900" algn="just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ru-RU" sz="24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Разработка GUI для управления процессом миграции.</a:t>
            </a:r>
          </a:p>
          <a:p>
            <a:pPr marL="342900" indent="-342900" algn="just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ru-RU" sz="24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Тестирование работы модулей 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765139F3-537B-4340-A1D9-85255E0DC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13326-196F-47D6-8271-B6D1C4F962EF}" type="slidenum">
              <a:rPr lang="ru-RU" smtClean="0"/>
              <a:pPr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632376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Заголовок 18">
            <a:extLst>
              <a:ext uri="{FF2B5EF4-FFF2-40B4-BE49-F238E27FC236}">
                <a16:creationId xmlns:a16="http://schemas.microsoft.com/office/drawing/2014/main" id="{43B98585-F865-41D9-8414-EA3F335FFB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8801" y="355086"/>
            <a:ext cx="12313920" cy="1295400"/>
          </a:xfrm>
        </p:spPr>
        <p:txBody>
          <a:bodyPr/>
          <a:lstStyle/>
          <a:p>
            <a:pPr algn="l"/>
            <a:r>
              <a:rPr lang="ru-RU" sz="4000" b="1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Требования к системе</a:t>
            </a:r>
            <a:endParaRPr lang="ru-RU" dirty="0"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FF3F7D-78E0-4223-894C-E20468B6F7D3}"/>
              </a:ext>
            </a:extLst>
          </p:cNvPr>
          <p:cNvSpPr txBox="1"/>
          <p:nvPr/>
        </p:nvSpPr>
        <p:spPr>
          <a:xfrm>
            <a:off x="911662" y="1935957"/>
            <a:ext cx="13053774" cy="55732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0850">
              <a:lnSpc>
                <a:spcPct val="150000"/>
              </a:lnSpc>
            </a:pPr>
            <a:r>
              <a:rPr lang="ru-RU" sz="24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Функциональные: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Эвристический анализ </a:t>
            </a:r>
            <a:r>
              <a:rPr lang="en-US" sz="24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AST;</a:t>
            </a:r>
            <a:endParaRPr lang="ru-RU" sz="2400" dirty="0"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Удаление </a:t>
            </a:r>
            <a:r>
              <a:rPr lang="en-US" sz="2400" dirty="0" err="1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ForeignKey</a:t>
            </a:r>
            <a:r>
              <a:rPr lang="en-US" sz="24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;</a:t>
            </a:r>
            <a:endParaRPr lang="ru-RU" sz="2400" dirty="0"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Генерация </a:t>
            </a:r>
            <a:r>
              <a:rPr lang="en-US" sz="24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Stub-</a:t>
            </a:r>
            <a:r>
              <a:rPr lang="ru-RU" sz="24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заглушек</a:t>
            </a:r>
            <a:r>
              <a:rPr lang="en-US" sz="24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;</a:t>
            </a:r>
            <a:endParaRPr lang="ru-RU" sz="2400" dirty="0"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Создание </a:t>
            </a:r>
            <a:r>
              <a:rPr lang="en-US" sz="24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docker-compose.</a:t>
            </a:r>
            <a:endParaRPr lang="ru-RU" sz="2400" dirty="0"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  <a:p>
            <a:pPr indent="450850">
              <a:lnSpc>
                <a:spcPct val="150000"/>
              </a:lnSpc>
            </a:pPr>
            <a:r>
              <a:rPr lang="ru-RU" sz="24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Нефункциональные: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Фоновая генерация артефактов в изолированных потоках</a:t>
            </a:r>
            <a:r>
              <a:rPr lang="en-US" sz="24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;</a:t>
            </a:r>
            <a:endParaRPr lang="ru-RU" sz="2400" dirty="0"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Исключение состояний гонки</a:t>
            </a:r>
            <a:r>
              <a:rPr lang="en-US" sz="24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;</a:t>
            </a:r>
            <a:endParaRPr lang="ru-RU" sz="2400" dirty="0"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Изоляция внутренней </a:t>
            </a:r>
            <a:r>
              <a:rPr lang="en-US" sz="24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Docker-</a:t>
            </a:r>
            <a:r>
              <a:rPr lang="ru-RU" sz="24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сети</a:t>
            </a:r>
            <a:r>
              <a:rPr lang="en-US" sz="24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;</a:t>
            </a:r>
            <a:endParaRPr lang="ru-RU" sz="2400" dirty="0"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Кроссплатформенность</a:t>
            </a:r>
            <a:r>
              <a:rPr lang="en-US" sz="24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.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286B4238-EB84-4258-A610-6B43528AC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13326-196F-47D6-8271-B6D1C4F962EF}" type="slidenum">
              <a:rPr lang="ru-RU" smtClean="0"/>
              <a:pPr/>
              <a:t>4</a:t>
            </a:fld>
            <a:endParaRPr lang="ru-RU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3723FB15-F158-451C-9F17-E7B863EFC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sz="4000" b="1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Варианты использования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41F8D0A-718E-4721-97B8-354C0F31D10A}"/>
              </a:ext>
            </a:extLst>
          </p:cNvPr>
          <p:cNvPicPr/>
          <p:nvPr/>
        </p:nvPicPr>
        <p:blipFill>
          <a:blip r:embed="rId2"/>
          <a:srcRect/>
          <a:stretch/>
        </p:blipFill>
        <p:spPr>
          <a:xfrm>
            <a:off x="3329839" y="2100116"/>
            <a:ext cx="7970721" cy="5894600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3C86E711-478C-4295-ADDD-B5576FD2B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13326-196F-47D6-8271-B6D1C4F962EF}" type="slidenum">
              <a:rPr lang="ru-RU" smtClean="0"/>
              <a:pPr/>
              <a:t>5</a:t>
            </a:fld>
            <a:endParaRPr lang="ru-RU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966ACD4-39D3-88F6-17CF-49E88CB746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49144"/>
            <a:ext cx="13804900" cy="162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7675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2C21C705-EAFE-4B78-954C-2C99A8E14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sz="4000" b="1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Процесс работы модуля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06617FC-F86A-4BC3-B0E3-4CDDB1756AD7}"/>
              </a:ext>
            </a:extLst>
          </p:cNvPr>
          <p:cNvPicPr/>
          <p:nvPr/>
        </p:nvPicPr>
        <p:blipFill>
          <a:blip r:embed="rId2"/>
          <a:srcRect/>
          <a:stretch/>
        </p:blipFill>
        <p:spPr>
          <a:xfrm>
            <a:off x="3386879" y="2180529"/>
            <a:ext cx="7856641" cy="5210302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3E0ABE5D-1EFB-4D87-816B-BCB89D338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13326-196F-47D6-8271-B6D1C4F962EF}" type="slidenum">
              <a:rPr lang="ru-RU" smtClean="0"/>
              <a:pPr/>
              <a:t>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700660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2C21C705-EAFE-4B78-954C-2C99A8E14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sz="4000" b="1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Процесс работы модуля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10E4FF2-AEDE-4E34-806D-772EBCA25A7B}"/>
              </a:ext>
            </a:extLst>
          </p:cNvPr>
          <p:cNvPicPr/>
          <p:nvPr/>
        </p:nvPicPr>
        <p:blipFill>
          <a:blip r:embed="rId2"/>
          <a:srcRect/>
          <a:stretch/>
        </p:blipFill>
        <p:spPr>
          <a:xfrm>
            <a:off x="4174008" y="2044380"/>
            <a:ext cx="6282384" cy="6045158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3E0ABE5D-1EFB-4D87-816B-BCB89D338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13326-196F-47D6-8271-B6D1C4F962EF}" type="slidenum">
              <a:rPr lang="ru-RU" smtClean="0"/>
              <a:pPr/>
              <a:t>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818095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2C21C705-EAFE-4B78-954C-2C99A8E14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sz="4000" b="1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Процесс работы модуля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6505C120-A93B-45BB-885D-F6622529FA11}"/>
              </a:ext>
            </a:extLst>
          </p:cNvPr>
          <p:cNvPicPr/>
          <p:nvPr/>
        </p:nvPicPr>
        <p:blipFill>
          <a:blip r:embed="rId2"/>
          <a:srcRect/>
          <a:stretch/>
        </p:blipFill>
        <p:spPr>
          <a:xfrm>
            <a:off x="4032608" y="2141453"/>
            <a:ext cx="6565183" cy="5731911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FBED732C-4DBC-438C-A99C-9F071CEA5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13326-196F-47D6-8271-B6D1C4F962EF}" type="slidenum">
              <a:rPr lang="ru-RU" smtClean="0"/>
              <a:pPr/>
              <a:t>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068606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6084DA11-24AE-4F9A-9DFB-123CD9DC1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sz="4000" b="1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Состояния и переходы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845868C-E3BF-49B4-B6E3-EF8DE4843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13326-196F-47D6-8271-B6D1C4F962EF}" type="slidenum">
              <a:rPr lang="ru-RU" smtClean="0"/>
              <a:pPr/>
              <a:t>9</a:t>
            </a:fld>
            <a:endParaRPr lang="ru-R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9280F4-5DC0-9011-4BEC-CD72A4A466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5801" y="2249984"/>
            <a:ext cx="6258798" cy="587774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C3DAE6C-DE9A-19EF-A5B3-A84C82832D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7221" y="2666729"/>
            <a:ext cx="71019" cy="4805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7466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5AC8B71F-C91E-42F6-A46C-4A6A31141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0710" y="652096"/>
            <a:ext cx="12313920" cy="746907"/>
          </a:xfrm>
        </p:spPr>
        <p:txBody>
          <a:bodyPr/>
          <a:lstStyle/>
          <a:p>
            <a:pPr algn="l"/>
            <a:r>
              <a:rPr lang="ru-RU" sz="4000" b="1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Структура классов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43A5128-8DAD-48FF-B377-32044A1E876B}"/>
              </a:ext>
            </a:extLst>
          </p:cNvPr>
          <p:cNvPicPr/>
          <p:nvPr/>
        </p:nvPicPr>
        <p:blipFill>
          <a:blip r:embed="rId3"/>
          <a:srcRect/>
          <a:stretch/>
        </p:blipFill>
        <p:spPr>
          <a:xfrm>
            <a:off x="3689826" y="2269063"/>
            <a:ext cx="7250746" cy="5402680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F7C9EF24-871D-4108-8BD0-329C5D76E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13326-196F-47D6-8271-B6D1C4F962EF}" type="slidenum">
              <a:rPr lang="ru-RU" smtClean="0"/>
              <a:pPr/>
              <a:t>10</a:t>
            </a:fld>
            <a:endParaRPr lang="ru-RU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Рисунок 16">
            <a:extLst>
              <a:ext uri="{FF2B5EF4-FFF2-40B4-BE49-F238E27FC236}">
                <a16:creationId xmlns:a16="http://schemas.microsoft.com/office/drawing/2014/main" id="{7C8AB681-1C1A-4000-9E80-586418523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2493" y="385883"/>
            <a:ext cx="9542375" cy="1295400"/>
          </a:xfrm>
        </p:spPr>
        <p:txBody>
          <a:bodyPr/>
          <a:lstStyle/>
          <a:p>
            <a:pPr algn="l"/>
            <a:r>
              <a:rPr lang="ru-RU" sz="4000" b="1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Технологический стек</a:t>
            </a:r>
            <a:endParaRPr lang="ru-RU" dirty="0"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9B6A094-722F-4EF3-AF22-480508E5441C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827312" y="2124710"/>
            <a:ext cx="11259075" cy="28032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71463" marR="0" lvl="0" indent="-271463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ru-RU" altLang="en-US" sz="24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Язык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 </a:t>
            </a:r>
            <a:r>
              <a:rPr lang="ru-RU" altLang="en-US" sz="24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программирования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: Python 3.10 </a:t>
            </a:r>
          </a:p>
          <a:p>
            <a:pPr marL="271463" marR="0" lvl="0" indent="-271463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Создание GUI с поддержкой асинхронности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: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CustomTkinter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 </a:t>
            </a:r>
          </a:p>
          <a:p>
            <a:pPr marL="271463" marR="0" lvl="0" indent="-271463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Сборка образов и оркестрация сети сервисов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: Docker Engine </a:t>
            </a:r>
          </a:p>
          <a:p>
            <a:pPr marL="271463" marR="0" lvl="0" indent="-271463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Среда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 </a:t>
            </a:r>
            <a:r>
              <a:rPr lang="ru-RU" altLang="en-US" sz="24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разработки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(IDE): </a:t>
            </a:r>
            <a:r>
              <a:rPr lang="en-US" altLang="en-US" sz="24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Visual Studio Code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 </a:t>
            </a:r>
          </a:p>
          <a:p>
            <a:pPr marL="271463" marR="0" lvl="0" indent="-271463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Контроль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 </a:t>
            </a:r>
            <a:r>
              <a:rPr kumimoji="0" lang="ru-RU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версий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: Git 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23D07E46-2331-4973-8934-ED5BEFDED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13326-196F-47D6-8271-B6D1C4F962EF}" type="slidenum">
              <a:rPr lang="ru-RU" smtClean="0"/>
              <a:pPr/>
              <a:t>11</a:t>
            </a:fld>
            <a:endParaRPr lang="ru-RU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ctrTitle"/>
          </p:nvPr>
        </p:nvSpPr>
        <p:spPr>
          <a:xfrm>
            <a:off x="0" y="3142488"/>
            <a:ext cx="8802624" cy="1261873"/>
          </a:xfrm>
        </p:spPr>
        <p:txBody>
          <a:bodyPr/>
          <a:lstStyle/>
          <a:p>
            <a:r>
              <a:rPr lang="ru-RU" b="1" dirty="0">
                <a:solidFill>
                  <a:schemeClr val="bg1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3321775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560</TotalTime>
  <Words>223</Words>
  <Application>Microsoft Office PowerPoint</Application>
  <PresentationFormat>Custom</PresentationFormat>
  <Paragraphs>56</Paragraphs>
  <Slides>12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Open Sans Semibold</vt:lpstr>
      <vt:lpstr>Open Sans Light</vt:lpstr>
      <vt:lpstr>Open Sans ExtraBold</vt:lpstr>
      <vt:lpstr>Open Sans</vt:lpstr>
      <vt:lpstr>Office Theme</vt:lpstr>
      <vt:lpstr>Разработка программного модуля визуального обнаружения объектов</vt:lpstr>
      <vt:lpstr>Актуальность</vt:lpstr>
      <vt:lpstr>Цели и задачи</vt:lpstr>
      <vt:lpstr>Требования к системе</vt:lpstr>
      <vt:lpstr>Варианты использования</vt:lpstr>
      <vt:lpstr>Процесс работы модуля</vt:lpstr>
      <vt:lpstr>Процесс работы модуля</vt:lpstr>
      <vt:lpstr>Процесс работы модуля</vt:lpstr>
      <vt:lpstr>Состояния и переходы</vt:lpstr>
      <vt:lpstr>Структура классов</vt:lpstr>
      <vt:lpstr>Технологический стек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Андрей Касаткин</dc:creator>
  <cp:lastModifiedBy>Олег</cp:lastModifiedBy>
  <cp:revision>88</cp:revision>
  <cp:lastPrinted>2026-04-14T14:18:55Z</cp:lastPrinted>
  <dcterms:created xsi:type="dcterms:W3CDTF">2026-03-09T18:13:07Z</dcterms:created>
  <dcterms:modified xsi:type="dcterms:W3CDTF">2026-04-28T12:20:06Z</dcterms:modified>
</cp:coreProperties>
</file>